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492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12889-023-16785-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review-bmcmedresmethodol.biomedcentral.com/counter/pdf/10.1186/s12874-023-02041-0.pdf" TargetMode="External"/><Relationship Id="rId4" Type="http://schemas.openxmlformats.org/officeDocument/2006/relationships/hyperlink" Target="https://www.semanticscholar.org/paper/dbb867457e466562307b495b7f8631dcd2a5c38d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21808"/>
            <a:ext cx="12191695" cy="1536192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Road Accident Severity Prediction</a:t>
            </a:r>
          </a:p>
        </p:txBody>
      </p:sp>
      <p:sp>
        <p:nvSpPr>
          <p:cNvPr id="6" name="Text 4"/>
          <p:cNvSpPr/>
          <p:nvPr/>
        </p:nvSpPr>
        <p:spPr>
          <a:xfrm>
            <a:off x="713232" y="230428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CE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modeling approach to identify Road accidents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614476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2026-DS-21 |  Industry / Organization  |  Presenter Names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79"/>
            <a:ext cx="9875520" cy="43346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133DC7-6506-C2C5-2161-94537140060E}"/>
              </a:ext>
            </a:extLst>
          </p:cNvPr>
          <p:cNvSpPr txBox="1"/>
          <p:nvPr/>
        </p:nvSpPr>
        <p:spPr>
          <a:xfrm>
            <a:off x="749808" y="1554479"/>
            <a:ext cx="2824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9FB7FA-092E-4858-A039-029BD3D2CD75}"/>
              </a:ext>
            </a:extLst>
          </p:cNvPr>
          <p:cNvSpPr txBox="1"/>
          <p:nvPr/>
        </p:nvSpPr>
        <p:spPr>
          <a:xfrm>
            <a:off x="674914" y="1685108"/>
            <a:ext cx="454478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Industry Problem &amp; Consultancy Objectives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Research Landscape &amp; Gap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Dataset Selection &amp; Understanding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Descriptive Analysis &amp; Initial Insights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Statistical Inference Evidence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Predictive Statistical Modelling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Experimental Design Evaluation</a:t>
            </a:r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0B2565-0591-55EE-B2A6-AC60BFE4C746}"/>
              </a:ext>
            </a:extLst>
          </p:cNvPr>
          <p:cNvSpPr txBox="1"/>
          <p:nvPr/>
        </p:nvSpPr>
        <p:spPr>
          <a:xfrm>
            <a:off x="5687568" y="1739145"/>
            <a:ext cx="462098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8.  PCA Evaluation</a:t>
            </a:r>
          </a:p>
          <a:p>
            <a:endParaRPr lang="en-US" dirty="0"/>
          </a:p>
          <a:p>
            <a:r>
              <a:rPr lang="en-US" dirty="0"/>
              <a:t>9.  Bayesian Statistical Methods</a:t>
            </a:r>
          </a:p>
          <a:p>
            <a:endParaRPr lang="en-US" dirty="0"/>
          </a:p>
          <a:p>
            <a:r>
              <a:rPr lang="en-US" dirty="0"/>
              <a:t>10.Time Series Extension</a:t>
            </a:r>
          </a:p>
          <a:p>
            <a:endParaRPr lang="en-US" dirty="0"/>
          </a:p>
          <a:p>
            <a:r>
              <a:rPr lang="en-US" dirty="0"/>
              <a:t>11.Industry Innovation Proposal</a:t>
            </a:r>
          </a:p>
          <a:p>
            <a:endParaRPr lang="en-US" dirty="0"/>
          </a:p>
          <a:p>
            <a:r>
              <a:rPr lang="en-US" dirty="0"/>
              <a:t>12.Industry Expert Validation</a:t>
            </a:r>
          </a:p>
          <a:p>
            <a:endParaRPr lang="en-US" dirty="0"/>
          </a:p>
          <a:p>
            <a:r>
              <a:rPr lang="en-US" dirty="0"/>
              <a:t>13.Final Consultancy Recommendations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Problem &amp; Consultancy Objectives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0062B9-E3A0-3ADF-D76D-C8431D022043}"/>
              </a:ext>
            </a:extLst>
          </p:cNvPr>
          <p:cNvSpPr txBox="1"/>
          <p:nvPr/>
        </p:nvSpPr>
        <p:spPr>
          <a:xfrm>
            <a:off x="749808" y="1730829"/>
            <a:ext cx="43392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Industry:</a:t>
            </a:r>
            <a:r>
              <a:rPr lang="en-US" dirty="0"/>
              <a:t> Road Transport &amp; Public Safety (UK </a:t>
            </a:r>
            <a:r>
              <a:rPr lang="en-US" dirty="0" err="1"/>
              <a:t>DfT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b="1" dirty="0"/>
              <a:t>Problem:</a:t>
            </a:r>
            <a:endParaRPr lang="en-US" dirty="0"/>
          </a:p>
          <a:p>
            <a:pPr lvl="0"/>
            <a:r>
              <a:rPr lang="en-US" dirty="0"/>
              <a:t>- 106,000 road collisions in 2022</a:t>
            </a:r>
          </a:p>
          <a:p>
            <a:pPr lvl="0"/>
            <a:r>
              <a:rPr lang="en-US" dirty="0"/>
              <a:t>- 1,700 fatalities, ~25,000 serious injuries</a:t>
            </a:r>
          </a:p>
          <a:p>
            <a:pPr lvl="0"/>
            <a:r>
              <a:rPr lang="en-US" dirty="0"/>
              <a:t>    £34 billion annual societal cost</a:t>
            </a:r>
          </a:p>
          <a:p>
            <a:pPr lvl="0"/>
            <a:r>
              <a:rPr lang="en-US" dirty="0"/>
              <a:t>    Limited predictive tools for severity</a:t>
            </a:r>
          </a:p>
          <a:p>
            <a:pPr lvl="0"/>
            <a:endParaRPr lang="en-US" dirty="0"/>
          </a:p>
          <a:p>
            <a:r>
              <a:rPr lang="en-US" b="1" dirty="0"/>
              <a:t>Stakeholders:</a:t>
            </a:r>
            <a:r>
              <a:rPr lang="en-US" dirty="0"/>
              <a:t> Public, </a:t>
            </a:r>
            <a:r>
              <a:rPr lang="en-US" dirty="0" err="1"/>
              <a:t>DfT</a:t>
            </a:r>
            <a:r>
              <a:rPr lang="en-US" dirty="0"/>
              <a:t>, Emergency Services, Local Authorities</a:t>
            </a:r>
          </a:p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E63238-2CA7-0ACB-0361-BF73C09F9CD7}"/>
              </a:ext>
            </a:extLst>
          </p:cNvPr>
          <p:cNvSpPr txBox="1"/>
          <p:nvPr/>
        </p:nvSpPr>
        <p:spPr>
          <a:xfrm>
            <a:off x="6810321" y="1884986"/>
            <a:ext cx="46318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Objectives:</a:t>
            </a:r>
          </a:p>
          <a:p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Identify key severity factors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Compare statistical models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Recommend evidence-based interventions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Landscape &amp; Research Gap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874CF0-3FE9-6ABE-9454-212DEBEEFA1D}"/>
              </a:ext>
            </a:extLst>
          </p:cNvPr>
          <p:cNvSpPr txBox="1"/>
          <p:nvPr/>
        </p:nvSpPr>
        <p:spPr>
          <a:xfrm>
            <a:off x="713232" y="1768929"/>
            <a:ext cx="477861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Current Practice: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Binary logistic regression (fatal vs non-fatal)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Machine learning (Random Forest, </a:t>
            </a:r>
            <a:r>
              <a:rPr lang="en-US" dirty="0" err="1"/>
              <a:t>XGBoost</a:t>
            </a:r>
            <a:r>
              <a:rPr lang="en-US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Geospatial hotspot analysis</a:t>
            </a:r>
          </a:p>
          <a:p>
            <a:pPr lvl="0"/>
            <a:endParaRPr lang="en-US" dirty="0"/>
          </a:p>
          <a:p>
            <a:r>
              <a:rPr lang="en-US" b="1" dirty="0"/>
              <a:t>Key Gap: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Most studies ignore </a:t>
            </a:r>
            <a:r>
              <a:rPr lang="en-US" b="1" dirty="0"/>
              <a:t>ordinal nature</a:t>
            </a:r>
            <a:r>
              <a:rPr lang="en-US" dirty="0"/>
              <a:t> of severity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Limited comparison of </a:t>
            </a:r>
            <a:r>
              <a:rPr lang="en-US" b="1" dirty="0"/>
              <a:t>regularized + traditional</a:t>
            </a:r>
            <a:r>
              <a:rPr lang="en-US" dirty="0"/>
              <a:t> models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Few connect findings to </a:t>
            </a:r>
            <a:r>
              <a:rPr lang="en-US" b="1" dirty="0"/>
              <a:t>actionable policy</a:t>
            </a:r>
            <a:endParaRPr lang="en-US" dirty="0"/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5325F4-20AA-6CD2-76A7-07017B6DC9C8}"/>
              </a:ext>
            </a:extLst>
          </p:cNvPr>
          <p:cNvSpPr txBox="1"/>
          <p:nvPr/>
        </p:nvSpPr>
        <p:spPr>
          <a:xfrm>
            <a:off x="6090230" y="1554480"/>
            <a:ext cx="579664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Our Approach: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Three-class severity modelling (Fatal / Serious / Slight)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Weighted multinomial + ordinal + </a:t>
            </a:r>
            <a:r>
              <a:rPr lang="en-US" dirty="0" err="1"/>
              <a:t>regularised</a:t>
            </a:r>
            <a:r>
              <a:rPr lang="en-US" dirty="0"/>
              <a:t>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Business-focused recommendations</a:t>
            </a:r>
          </a:p>
          <a:p>
            <a:endParaRPr lang="en-US" dirty="0"/>
          </a:p>
          <a:p>
            <a:r>
              <a:rPr lang="en-US" b="1" dirty="0"/>
              <a:t>Core References with 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Ordinal Logistic Regression for Crash Severity - </a:t>
            </a:r>
            <a:r>
              <a:rPr lang="en-US" dirty="0">
                <a:hlinkClick r:id="rId3"/>
              </a:rPr>
              <a:t>https://doi.org/10.1186/s12889-023-16785-3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Systematic Review of Severity Prediction Methods - </a:t>
            </a:r>
            <a:r>
              <a:rPr lang="en-US" dirty="0">
                <a:hlinkClick r:id="rId4"/>
              </a:rPr>
              <a:t>https://www.semanticscholar.org/paper/dbb867457e466562307b495b7f8631dcd2a5c38d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Regularization Methods (LASSO / Elastic Net) for Crash Severity - </a:t>
            </a:r>
            <a:r>
              <a:rPr lang="en-US" dirty="0">
                <a:hlinkClick r:id="rId5"/>
              </a:rPr>
              <a:t>https://preview-bmcmedresmethodol.biomedcentral.com/counter/pdf/10.1186/s12874-023-02041-0.pdf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Selection &amp; Understanding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AE5DFB-329E-744B-5D51-2F6984B91753}"/>
              </a:ext>
            </a:extLst>
          </p:cNvPr>
          <p:cNvSpPr txBox="1"/>
          <p:nvPr/>
        </p:nvSpPr>
        <p:spPr>
          <a:xfrm>
            <a:off x="749808" y="1741714"/>
            <a:ext cx="460052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Source:</a:t>
            </a:r>
            <a:r>
              <a:rPr lang="en-US" dirty="0"/>
              <a:t> UK </a:t>
            </a:r>
            <a:r>
              <a:rPr lang="en-US" dirty="0" err="1"/>
              <a:t>DfT</a:t>
            </a:r>
            <a:r>
              <a:rPr lang="en-US" dirty="0"/>
              <a:t> Open Data (2022)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Size:</a:t>
            </a:r>
            <a:r>
              <a:rPr lang="en-US" dirty="0"/>
              <a:t> ~106,000 collisions, 40+ variables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Target:</a:t>
            </a:r>
            <a:r>
              <a:rPr lang="en-US" dirty="0"/>
              <a:t> </a:t>
            </a:r>
            <a:r>
              <a:rPr lang="en-US" dirty="0" err="1"/>
              <a:t>collision_severity</a:t>
            </a:r>
            <a:r>
              <a:rPr lang="en-US" dirty="0"/>
              <a:t> (Fatal / Serious / Slight)</a:t>
            </a:r>
          </a:p>
          <a:p>
            <a:endParaRPr lang="en-US" dirty="0"/>
          </a:p>
          <a:p>
            <a:r>
              <a:rPr lang="en-US" b="1" dirty="0"/>
              <a:t>Key Predictors: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Speed limit, number of vehicles, number of casualties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Urban/Rural area, light conditions, weather, road type, junction detail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Engineered: time of day, </a:t>
            </a:r>
            <a:r>
              <a:rPr lang="en-US" dirty="0" err="1"/>
              <a:t>is_weekend</a:t>
            </a:r>
            <a:r>
              <a:rPr lang="en-US" dirty="0"/>
              <a:t>, season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CA74D2-6CB2-6073-8074-453BE6513766}"/>
              </a:ext>
            </a:extLst>
          </p:cNvPr>
          <p:cNvSpPr txBox="1"/>
          <p:nvPr/>
        </p:nvSpPr>
        <p:spPr>
          <a:xfrm>
            <a:off x="5932714" y="1810512"/>
            <a:ext cx="52869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Quality:</a:t>
            </a:r>
          </a:p>
          <a:p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Missing categorical values → "Unknown" level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STATS19 code "-1" (missing/out of range) → set to NA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Rare categories (&lt;30 rows) → collapsed into "Other" before splitting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Outliers retained (legitimate high-severity events)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Class Imbalance Strategy: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Inverse-frequency class weights (primary)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SMOTE used only as a sensitivity check</a:t>
            </a:r>
          </a:p>
          <a:p>
            <a:pPr lvl="0"/>
            <a:endParaRPr lang="en-US" dirty="0"/>
          </a:p>
          <a:p>
            <a:r>
              <a:rPr lang="en-US" b="1" dirty="0"/>
              <a:t>Why Suitable:</a:t>
            </a:r>
            <a:r>
              <a:rPr lang="en-US" dirty="0"/>
              <a:t> Large, official, rich, policy-relevant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Descriptive Analysis &amp; Initial Insights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37D9CE-B4F0-2D6C-5DCA-FCFAAD61A559}"/>
              </a:ext>
            </a:extLst>
          </p:cNvPr>
          <p:cNvSpPr txBox="1"/>
          <p:nvPr/>
        </p:nvSpPr>
        <p:spPr>
          <a:xfrm>
            <a:off x="749808" y="1698171"/>
            <a:ext cx="482912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Severity Split:</a:t>
            </a:r>
            <a:endParaRPr lang="en-US" dirty="0"/>
          </a:p>
          <a:p>
            <a:pPr lvl="0"/>
            <a:r>
              <a:rPr lang="en-US" dirty="0"/>
              <a:t>Fatal: 1.51% | Serious: 22.01% | Slight: 76.48%</a:t>
            </a:r>
          </a:p>
          <a:p>
            <a:pPr lvl="0"/>
            <a:endParaRPr lang="en-US" dirty="0"/>
          </a:p>
          <a:p>
            <a:r>
              <a:rPr lang="en-US" b="1" dirty="0"/>
              <a:t>Key Patterns: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Higher speed → higher severity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Rural: 3.7x higher fatality than urban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Darkness: highest fatality proportion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Fine weather: most collisions (exposure)</a:t>
            </a:r>
          </a:p>
          <a:p>
            <a:pPr lvl="0"/>
            <a:endParaRPr lang="en-US" dirty="0"/>
          </a:p>
          <a:p>
            <a:r>
              <a:rPr lang="en-US" b="1" dirty="0"/>
              <a:t>Business Insight:</a:t>
            </a:r>
            <a:endParaRPr lang="en-US" dirty="0"/>
          </a:p>
          <a:p>
            <a:pPr lvl="0"/>
            <a:r>
              <a:rPr lang="en-US" dirty="0"/>
              <a:t>Target rural, dark, high-speed roads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Numeric Summary: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Mean speed limit: 36.0 mph (median 30)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Mean vehicles per collision: 1.83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Mean casualties per collision: 1.28</a:t>
            </a:r>
          </a:p>
          <a:p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67C41D0-29E5-0D81-785A-2F2BA7FA1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1533197"/>
            <a:ext cx="3112499" cy="20878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3E526A5-DF26-1CEB-F9F1-D6DF4490A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1516406"/>
            <a:ext cx="3112499" cy="208782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47C3445-5348-6267-121C-77B05197F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8552" y="3793262"/>
            <a:ext cx="3112499" cy="208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Statistical Inference Evidence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180650-17D4-3369-F682-58C12819160C}"/>
              </a:ext>
            </a:extLst>
          </p:cNvPr>
          <p:cNvSpPr txBox="1"/>
          <p:nvPr/>
        </p:nvSpPr>
        <p:spPr>
          <a:xfrm>
            <a:off x="749808" y="1805069"/>
            <a:ext cx="8122049" cy="445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A3D1596-1446-C7D0-93AE-A1C746747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766542"/>
              </p:ext>
            </p:extLst>
          </p:nvPr>
        </p:nvGraphicFramePr>
        <p:xfrm>
          <a:off x="6879772" y="1540848"/>
          <a:ext cx="1208314" cy="1907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8314">
                  <a:extLst>
                    <a:ext uri="{9D8B030D-6E8A-4147-A177-3AD203B41FA5}">
                      <a16:colId xmlns:a16="http://schemas.microsoft.com/office/drawing/2014/main" val="22948141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endParaRPr lang="en-US" sz="700" b="0" dirty="0">
                        <a:effectLst/>
                        <a:latin typeface="quote-cjk-patch"/>
                      </a:endParaRPr>
                    </a:p>
                  </a:txBody>
                  <a:tcPr marL="44765" marR="44765" marT="27978" marB="27978" anchor="ctr"/>
                </a:tc>
                <a:extLst>
                  <a:ext uri="{0D108BD9-81ED-4DB2-BD59-A6C34878D82A}">
                    <a16:rowId xmlns:a16="http://schemas.microsoft.com/office/drawing/2014/main" val="49989908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B454C4B-C847-801F-8ABA-BB56F79C8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386184"/>
              </p:ext>
            </p:extLst>
          </p:nvPr>
        </p:nvGraphicFramePr>
        <p:xfrm>
          <a:off x="713232" y="1403114"/>
          <a:ext cx="9279854" cy="487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414">
                  <a:extLst>
                    <a:ext uri="{9D8B030D-6E8A-4147-A177-3AD203B41FA5}">
                      <a16:colId xmlns:a16="http://schemas.microsoft.com/office/drawing/2014/main" val="7026581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27451404"/>
                    </a:ext>
                  </a:extLst>
                </a:gridCol>
                <a:gridCol w="2881107">
                  <a:extLst>
                    <a:ext uri="{9D8B030D-6E8A-4147-A177-3AD203B41FA5}">
                      <a16:colId xmlns:a16="http://schemas.microsoft.com/office/drawing/2014/main" val="2600138818"/>
                    </a:ext>
                  </a:extLst>
                </a:gridCol>
              </a:tblGrid>
              <a:tr h="393788">
                <a:tc>
                  <a:txBody>
                    <a:bodyPr/>
                    <a:lstStyle/>
                    <a:p>
                      <a:r>
                        <a:rPr lang="en-US" dirty="0"/>
                        <a:t>Test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Implication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668668"/>
                  </a:ext>
                </a:extLst>
              </a:tr>
              <a:tr h="593077">
                <a:tc>
                  <a:txBody>
                    <a:bodyPr/>
                    <a:lstStyle/>
                    <a:p>
                      <a:r>
                        <a:rPr lang="en-US" dirty="0"/>
                        <a:t>Chi-square(urban/rural vs severity)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χ² = 1290.3,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2, p &lt; 2.2e-16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 association(small effect)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364698"/>
                  </a:ext>
                </a:extLst>
              </a:tr>
              <a:tr h="593077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Chi-square: light conditions vs severity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χ² = 917.6,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8, p &lt; 2.2e-16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 association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37237"/>
                  </a:ext>
                </a:extLst>
              </a:tr>
              <a:tr h="593077">
                <a:tc>
                  <a:txBody>
                    <a:bodyPr/>
                    <a:lstStyle/>
                    <a:p>
                      <a:r>
                        <a:rPr lang="en-US" dirty="0"/>
                        <a:t>Two-proportion(rural vs urban fatal)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 &lt; 2.2e-16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Rural 2.99% vs Urban 0.81% fatal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424802"/>
                  </a:ext>
                </a:extLst>
              </a:tr>
              <a:tr h="593077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Welch t-test: vehicles, Fatal vs Slight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= −2.94,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1627.8, p = 0.0034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Significant, small effect (Fatal mean slightly lower)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569489"/>
                  </a:ext>
                </a:extLst>
              </a:tr>
              <a:tr h="593077">
                <a:tc>
                  <a:txBody>
                    <a:bodyPr/>
                    <a:lstStyle/>
                    <a:p>
                      <a:r>
                        <a:rPr lang="en-US" dirty="0"/>
                        <a:t>One-proportion(fatal vs 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 &lt; 2.2e-16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Observed 1.51% exceeds 1% benchmark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003303"/>
                  </a:ext>
                </a:extLst>
              </a:tr>
              <a:tr h="593077">
                <a:tc>
                  <a:txBody>
                    <a:bodyPr/>
                    <a:lstStyle/>
                    <a:p>
                      <a:r>
                        <a:rPr lang="en-US" dirty="0"/>
                        <a:t>ANOVA(speed – severity)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 = 745.6, p &lt; 2e-16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 means differ strongly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122777"/>
                  </a:ext>
                </a:extLst>
              </a:tr>
              <a:tr h="593077">
                <a:tc>
                  <a:txBody>
                    <a:bodyPr/>
                    <a:lstStyle/>
                    <a:p>
                      <a:r>
                        <a:rPr lang="en-US" dirty="0" err="1"/>
                        <a:t>Var.test</a:t>
                      </a:r>
                      <a:r>
                        <a:rPr lang="en-US" dirty="0"/>
                        <a:t>(speed urban vs rural)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 = 0.25, p &lt; 2.2e-16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Rural speed variance -4× urban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3499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Statistical Modelling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582A51-82FB-3799-745F-68C5CAE96C44}"/>
              </a:ext>
            </a:extLst>
          </p:cNvPr>
          <p:cNvSpPr txBox="1"/>
          <p:nvPr/>
        </p:nvSpPr>
        <p:spPr>
          <a:xfrm>
            <a:off x="350874" y="1420392"/>
            <a:ext cx="1163974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Models Compared:</a:t>
            </a:r>
            <a:r>
              <a:rPr lang="en-US" dirty="0"/>
              <a:t> </a:t>
            </a:r>
            <a:r>
              <a:rPr lang="en-US" sz="1200" dirty="0"/>
              <a:t>Weighted Multinomial Logistic, weighted </a:t>
            </a:r>
            <a:r>
              <a:rPr lang="en-US" sz="1200" dirty="0" err="1"/>
              <a:t>Ordina</a:t>
            </a:r>
            <a:r>
              <a:rPr lang="en-US" sz="1200" dirty="0"/>
              <a:t> </a:t>
            </a:r>
            <a:r>
              <a:rPr lang="en-US" sz="1200" dirty="0" err="1"/>
              <a:t>logisticl,weighted</a:t>
            </a:r>
            <a:r>
              <a:rPr lang="en-US" sz="1200" dirty="0"/>
              <a:t> multinomial LASSO, weighted Elastic Net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Best for interpretation</a:t>
            </a:r>
            <a:r>
              <a:rPr lang="en-US" sz="1200" dirty="0"/>
              <a:t>: Weighted Ordinal Logistic (respects Slight &lt; Serious &lt; Fatal ordering; interpretable odds ratios)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Best for screening / minority detection</a:t>
            </a:r>
            <a:r>
              <a:rPr lang="en-US" sz="1200" dirty="0"/>
              <a:t>: Weighted LASSO (highest Kappa and Fatal sensitivity, sparse interpretable coefficients)</a:t>
            </a:r>
          </a:p>
          <a:p>
            <a:r>
              <a:rPr lang="en-US" sz="1200" b="1" dirty="0"/>
              <a:t>The Accuracy Illusion: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Unweighted models reach ~76.5% Accuracy — equal to the No Information Rate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Class weights raise Kappa from ≈ 0.008 → 0.085 (≈10×) and Fatal sensitivity from ≈ 0.00 → 0.67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Accuracy alone is misleading on this 76% "Slight" dataset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SMOTE warning: In the sensitivity test, SMOTE collapsed Serious-class sensitivity to 0.0014 — SMOTE is not recommended as the primary fix here.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Recommendation: Ordinal Logistic for interpretation; Weighted LASSO (or Multinomial) for high-risk screening.</a:t>
            </a:r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0A4036F-5892-7505-EDC0-504F4532B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54520"/>
              </p:ext>
            </p:extLst>
          </p:nvPr>
        </p:nvGraphicFramePr>
        <p:xfrm>
          <a:off x="786548" y="1755648"/>
          <a:ext cx="9802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55">
                  <a:extLst>
                    <a:ext uri="{9D8B030D-6E8A-4147-A177-3AD203B41FA5}">
                      <a16:colId xmlns:a16="http://schemas.microsoft.com/office/drawing/2014/main" val="4160097690"/>
                    </a:ext>
                  </a:extLst>
                </a:gridCol>
                <a:gridCol w="1225255">
                  <a:extLst>
                    <a:ext uri="{9D8B030D-6E8A-4147-A177-3AD203B41FA5}">
                      <a16:colId xmlns:a16="http://schemas.microsoft.com/office/drawing/2014/main" val="2279266750"/>
                    </a:ext>
                  </a:extLst>
                </a:gridCol>
                <a:gridCol w="1225255">
                  <a:extLst>
                    <a:ext uri="{9D8B030D-6E8A-4147-A177-3AD203B41FA5}">
                      <a16:colId xmlns:a16="http://schemas.microsoft.com/office/drawing/2014/main" val="3129274483"/>
                    </a:ext>
                  </a:extLst>
                </a:gridCol>
                <a:gridCol w="1225255">
                  <a:extLst>
                    <a:ext uri="{9D8B030D-6E8A-4147-A177-3AD203B41FA5}">
                      <a16:colId xmlns:a16="http://schemas.microsoft.com/office/drawing/2014/main" val="2990642660"/>
                    </a:ext>
                  </a:extLst>
                </a:gridCol>
                <a:gridCol w="1225255">
                  <a:extLst>
                    <a:ext uri="{9D8B030D-6E8A-4147-A177-3AD203B41FA5}">
                      <a16:colId xmlns:a16="http://schemas.microsoft.com/office/drawing/2014/main" val="1900124342"/>
                    </a:ext>
                  </a:extLst>
                </a:gridCol>
                <a:gridCol w="1225255">
                  <a:extLst>
                    <a:ext uri="{9D8B030D-6E8A-4147-A177-3AD203B41FA5}">
                      <a16:colId xmlns:a16="http://schemas.microsoft.com/office/drawing/2014/main" val="289313638"/>
                    </a:ext>
                  </a:extLst>
                </a:gridCol>
                <a:gridCol w="1225255">
                  <a:extLst>
                    <a:ext uri="{9D8B030D-6E8A-4147-A177-3AD203B41FA5}">
                      <a16:colId xmlns:a16="http://schemas.microsoft.com/office/drawing/2014/main" val="1282491196"/>
                    </a:ext>
                  </a:extLst>
                </a:gridCol>
                <a:gridCol w="1225255">
                  <a:extLst>
                    <a:ext uri="{9D8B030D-6E8A-4147-A177-3AD203B41FA5}">
                      <a16:colId xmlns:a16="http://schemas.microsoft.com/office/drawing/2014/main" val="3754790687"/>
                    </a:ext>
                  </a:extLst>
                </a:gridCol>
              </a:tblGrid>
              <a:tr h="324202">
                <a:tc>
                  <a:txBody>
                    <a:bodyPr/>
                    <a:lstStyle/>
                    <a:p>
                      <a:r>
                        <a:rPr lang="en-US" sz="12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Accuracy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Kappa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Macro</a:t>
                      </a:r>
                      <a:r>
                        <a:rPr lang="en-US" dirty="0"/>
                        <a:t> </a:t>
                      </a:r>
                      <a:r>
                        <a:rPr lang="en-US" sz="1200" dirty="0"/>
                        <a:t>f1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Fatal </a:t>
                      </a:r>
                      <a:r>
                        <a:rPr lang="en-US" sz="1200" dirty="0" err="1"/>
                        <a:t>sens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Serious </a:t>
                      </a:r>
                      <a:r>
                        <a:rPr lang="en-US" sz="1200" dirty="0" err="1"/>
                        <a:t>sens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Slight </a:t>
                      </a:r>
                      <a:r>
                        <a:rPr lang="en-US" sz="1200" dirty="0" err="1"/>
                        <a:t>sens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Balanaced</a:t>
                      </a:r>
                      <a:r>
                        <a:rPr lang="en-US" sz="1200" dirty="0"/>
                        <a:t> acc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180941"/>
                  </a:ext>
                </a:extLst>
              </a:tr>
              <a:tr h="405253"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Weighted Multinomial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0.4929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0.0841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0.3347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0.2820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0.5480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0.6084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633239"/>
                  </a:ext>
                </a:extLst>
              </a:tr>
              <a:tr h="405253"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Weighted Ordinal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0.5217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0.0751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0.3359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0.6271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0.5985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476826"/>
                  </a:ext>
                </a:extLst>
              </a:tr>
              <a:tr h="405253"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Weighted LASSO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0.4969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0.0855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0.3366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0.6688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0.2679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0.5641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0.6087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826734"/>
                  </a:ext>
                </a:extLst>
              </a:tr>
              <a:tr h="405253"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Weighted Elastic Net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0.5024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0.3366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0.6292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0.2842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0.5561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0.6029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388243"/>
                  </a:ext>
                </a:extLst>
              </a:tr>
              <a:tr h="567354"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SMOTE Multinomial (sensitivity only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0.0737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0.3070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0.5062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0.0016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0.5783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4431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Design Evaluation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692908" y="3154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4119B5-AD71-2B28-931C-58AF3C20A926}"/>
              </a:ext>
            </a:extLst>
          </p:cNvPr>
          <p:cNvSpPr txBox="1"/>
          <p:nvPr/>
        </p:nvSpPr>
        <p:spPr>
          <a:xfrm>
            <a:off x="713232" y="1665514"/>
            <a:ext cx="1126105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Possible use of CRD</a:t>
            </a:r>
            <a:r>
              <a:rPr lang="en-US" dirty="0"/>
              <a:t> — Randomly assign road segments to different safety treatments when segments are reasonably homogeneous — </a:t>
            </a:r>
            <a:r>
              <a:rPr lang="en-US" i="1" dirty="0"/>
              <a:t>Standard signage | Speed reduction | Lighting upgrade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Possible use of RCBD</a:t>
            </a:r>
            <a:r>
              <a:rPr lang="en-US" dirty="0"/>
              <a:t> — Block by </a:t>
            </a:r>
            <a:r>
              <a:rPr lang="en-US" b="1" dirty="0"/>
              <a:t>region / road type</a:t>
            </a:r>
            <a:r>
              <a:rPr lang="en-US" dirty="0"/>
              <a:t> and </a:t>
            </a:r>
            <a:r>
              <a:rPr lang="en-US" dirty="0" err="1"/>
              <a:t>randomise</a:t>
            </a:r>
            <a:r>
              <a:rPr lang="en-US" dirty="0"/>
              <a:t> treatments within each block — </a:t>
            </a:r>
            <a:r>
              <a:rPr lang="en-US" i="1" dirty="0"/>
              <a:t>Urban arterial | Rural single carriageway | Rural high-speed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Advantages, limitations, and feasibility</a:t>
            </a:r>
            <a:endParaRPr lang="en-US" dirty="0"/>
          </a:p>
          <a:p>
            <a:pPr lvl="0"/>
            <a:r>
              <a:rPr lang="en-US" b="1" dirty="0"/>
              <a:t>             CRD:</a:t>
            </a:r>
            <a:r>
              <a:rPr lang="en-US" dirty="0"/>
              <a:t> Simple, but less control over confounding road/environmental differences.</a:t>
            </a:r>
          </a:p>
          <a:p>
            <a:pPr lvl="0"/>
            <a:r>
              <a:rPr lang="en-US" b="1" dirty="0"/>
              <a:t>             RCBD:</a:t>
            </a:r>
            <a:r>
              <a:rPr lang="en-US" dirty="0"/>
              <a:t> Better control of variation, but more complex to administer.</a:t>
            </a:r>
          </a:p>
          <a:p>
            <a:pPr lvl="0"/>
            <a:r>
              <a:rPr lang="en-US" b="1" dirty="0"/>
              <a:t>             Stepped-wedge phased rollout:</a:t>
            </a:r>
            <a:r>
              <a:rPr lang="en-US" dirty="0"/>
              <a:t> Most feasible for real-world road safety (aligns with expert validation).</a:t>
            </a:r>
          </a:p>
          <a:p>
            <a:pPr lvl="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How experiments can support future decisions</a:t>
            </a:r>
            <a:r>
              <a:rPr lang="en-US" dirty="0"/>
              <a:t> — </a:t>
            </a:r>
            <a:r>
              <a:rPr lang="en-US" dirty="0" err="1"/>
              <a:t>Randomised</a:t>
            </a:r>
            <a:r>
              <a:rPr lang="en-US" dirty="0"/>
              <a:t> evidence can test which safety strategy performs best across road types and regions, replacing observational inference with causal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PCA Evaluation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076D71-8B27-08E4-3226-BB8D92A4A80A}"/>
              </a:ext>
            </a:extLst>
          </p:cNvPr>
          <p:cNvSpPr txBox="1"/>
          <p:nvPr/>
        </p:nvSpPr>
        <p:spPr>
          <a:xfrm>
            <a:off x="726947" y="1341221"/>
            <a:ext cx="1146474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Evaluating whether PCA provides meaningful dimensionality reduction for the selected numerical predictors.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Need for dimensionality reduction</a:t>
            </a:r>
            <a:r>
              <a:rPr lang="en-US" dirty="0"/>
              <a:t> — Only 3 numerical predictors (</a:t>
            </a:r>
            <a:r>
              <a:rPr lang="en-US" dirty="0" err="1"/>
              <a:t>speed_limit</a:t>
            </a:r>
            <a:r>
              <a:rPr lang="en-US" dirty="0"/>
              <a:t>, </a:t>
            </a:r>
            <a:r>
              <a:rPr lang="en-US" dirty="0" err="1"/>
              <a:t>number_of_vehicles</a:t>
            </a:r>
            <a:r>
              <a:rPr lang="en-US" dirty="0"/>
              <a:t>, </a:t>
            </a:r>
            <a:r>
              <a:rPr lang="en-US" dirty="0" err="1"/>
              <a:t>number_of_casualties</a:t>
            </a:r>
            <a:r>
              <a:rPr lang="en-US" dirty="0"/>
              <a:t>) were evaluated using </a:t>
            </a:r>
            <a:r>
              <a:rPr lang="en-US" dirty="0" err="1"/>
              <a:t>standardised</a:t>
            </a:r>
            <a:r>
              <a:rPr lang="en-US" dirty="0"/>
              <a:t> PCA. Weak correlations indicated limited need for reduction.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Possible advantages of PCA</a:t>
            </a:r>
            <a:r>
              <a:rPr lang="en-US" dirty="0"/>
              <a:t> — PCA can reduce correlated variables into fewer components and simplify high-dimensional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Limitations and risks of PCA</a:t>
            </a:r>
            <a:r>
              <a:rPr lang="en-US" dirty="0"/>
              <a:t> — PC1 = 44.31</a:t>
            </a:r>
            <a:r>
              <a:rPr lang="en-US" b="1" dirty="0"/>
              <a:t>%</a:t>
            </a:r>
            <a:r>
              <a:rPr lang="en-US" dirty="0"/>
              <a:t>, PC2 = 30.35%, PC3 = 25.34% variance. Cumulative PC1–PC2 = 74.66%. Principal components are less interpretable than the original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Effect on predictive modelling</a:t>
            </a:r>
            <a:r>
              <a:rPr lang="en-US" dirty="0"/>
              <a:t> — PCA provides limited reduction in this dataset, so original variables were retained for better interpretability and policy relevance</a:t>
            </a:r>
          </a:p>
          <a:p>
            <a:r>
              <a:rPr lang="en-US" b="1" dirty="0"/>
              <a:t>Interpretation: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Only 3 numeric predictors → very little to reduce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Loadings show moderate correlation, but no clean grouping into a single dominant factor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Principal components are harder to interpret than the original variables</a:t>
            </a:r>
          </a:p>
          <a:p>
            <a:pPr lvl="0"/>
            <a:endParaRPr lang="en-US" dirty="0"/>
          </a:p>
          <a:p>
            <a:r>
              <a:rPr lang="en-US" b="1" dirty="0"/>
              <a:t>Conclusion:</a:t>
            </a:r>
            <a:r>
              <a:rPr lang="en-US" dirty="0"/>
              <a:t> PCA offers limited benefit here; the original numeric variables were </a:t>
            </a:r>
            <a:r>
              <a:rPr lang="en-US" b="1" dirty="0"/>
              <a:t>retained</a:t>
            </a:r>
            <a:r>
              <a:rPr lang="en-US" dirty="0"/>
              <a:t> for interpretability and policy relevance. PCA is discussed critically as required by the brief, not used in the final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Bayesian Statistical Methods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CE4115-098A-9454-1D28-817AF95F446D}"/>
              </a:ext>
            </a:extLst>
          </p:cNvPr>
          <p:cNvSpPr txBox="1"/>
          <p:nvPr/>
        </p:nvSpPr>
        <p:spPr>
          <a:xfrm>
            <a:off x="713232" y="1347915"/>
            <a:ext cx="1100132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Critical evaluation of Bayesian alternatives:</a:t>
            </a:r>
          </a:p>
          <a:p>
            <a:endParaRPr lang="en-US" dirty="0"/>
          </a:p>
          <a:p>
            <a:r>
              <a:rPr lang="en-US" b="1" dirty="0"/>
              <a:t>Naive Bayes: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Fast, simple, well-suited to classification baselines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Strong conditional-independence assumption is questionable with correlated weather / light / road variables</a:t>
            </a:r>
          </a:p>
          <a:p>
            <a:r>
              <a:rPr lang="en-US" b="1" dirty="0"/>
              <a:t>Bayesian Regression: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Replaces point estimates with full posterior distributions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Naturally quantifies coefficient uncertainty (contrast with LASSO / Elastic Net point estimates)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Can incorporate prior knowledge on rural, high-speed, darkness risk</a:t>
            </a:r>
          </a:p>
          <a:p>
            <a:r>
              <a:rPr lang="en-US" b="1" dirty="0"/>
              <a:t>Bayesian Decision Making: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Combines posterior probabilities with a cost matrix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Highly relevant here — a missed Fatal prediction and a missed Slight prediction have very different real-world costs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Supports threshold-based rules (e.g. dispatch emergency services when P(Fatal) exceeds a threshold)</a:t>
            </a:r>
          </a:p>
          <a:p>
            <a:pPr lvl="0"/>
            <a:endParaRPr lang="en-US" dirty="0"/>
          </a:p>
          <a:p>
            <a:r>
              <a:rPr lang="en-US" b="1" dirty="0"/>
              <a:t>Trade-off:</a:t>
            </a:r>
            <a:r>
              <a:rPr lang="en-US" dirty="0"/>
              <a:t> Greater flexibility and uncertainty quantification, but higher computational cost and more complex to deploy operationally than the current weighted ordinal approach.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Series Extension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8A79AC-4DC4-B9C4-412E-869818C6D9A5}"/>
              </a:ext>
            </a:extLst>
          </p:cNvPr>
          <p:cNvSpPr txBox="1"/>
          <p:nvPr/>
        </p:nvSpPr>
        <p:spPr>
          <a:xfrm>
            <a:off x="713232" y="1427634"/>
            <a:ext cx="1103942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Explain how the project could be extended if time-dependent data were available.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Trend analysis opportunities</a:t>
            </a:r>
            <a:r>
              <a:rPr lang="en-US" dirty="0"/>
              <a:t> — With multi-year </a:t>
            </a:r>
            <a:r>
              <a:rPr lang="en-US" dirty="0" err="1"/>
              <a:t>DfT</a:t>
            </a:r>
            <a:r>
              <a:rPr lang="en-US" dirty="0"/>
              <a:t> data, collision frequency and severity mix could be monitored across months, seasons and years to evaluate past policy effectiveness.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Seasonal analysis opportunities</a:t>
            </a:r>
            <a:r>
              <a:rPr lang="en-US" dirty="0"/>
              <a:t> — Seasonal patterns could be examined across winter/summer and term-time/holiday periods (2022 monthly trend plot already shows month-to-month variation).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Forecasting and ARIMA use</a:t>
            </a:r>
            <a:r>
              <a:rPr lang="en-US" dirty="0"/>
              <a:t> — ARIMA or SARIMA could estimate future collision volumes and severity proportions to support resource planning.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Expected business benefits</a:t>
            </a:r>
            <a:r>
              <a:rPr lang="en-US" dirty="0"/>
              <a:t> — Forecasting could support early resource planning, intervention scheduling and road safety performance monitoring.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Future Delta</a:t>
            </a:r>
            <a:r>
              <a:rPr lang="en-US" dirty="0"/>
              <a:t> — Terms / Years | Trend → Forecast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2022 data already shows ≈25% monthly variation (7,678–9,592), confirming the value of multi-year ARIMA/SARIMA extension.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Innovation Proposal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97BE3B-3605-51A3-A0A5-675FAEFA41BA}"/>
              </a:ext>
            </a:extLst>
          </p:cNvPr>
          <p:cNvSpPr txBox="1"/>
          <p:nvPr/>
        </p:nvSpPr>
        <p:spPr>
          <a:xfrm>
            <a:off x="749808" y="1435608"/>
            <a:ext cx="1101764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data-driven early-warning framework for proactive road safety support.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Business need</a:t>
            </a:r>
            <a:r>
              <a:rPr lang="en-US" dirty="0"/>
              <a:t> — The </a:t>
            </a:r>
            <a:r>
              <a:rPr lang="en-US" dirty="0" err="1"/>
              <a:t>DfT</a:t>
            </a:r>
            <a:r>
              <a:rPr lang="en-US" dirty="0"/>
              <a:t> needs a systematic way to identify high-risk road conditions and </a:t>
            </a:r>
            <a:r>
              <a:rPr lang="en-US" dirty="0" err="1"/>
              <a:t>prioritise</a:t>
            </a:r>
            <a:r>
              <a:rPr lang="en-US" dirty="0"/>
              <a:t> interventions before severe collisions become more frequent.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Proposed Solution</a:t>
            </a:r>
            <a:r>
              <a:rPr lang="en-US" dirty="0"/>
              <a:t> — </a:t>
            </a:r>
            <a:r>
              <a:rPr lang="en-US" b="1" dirty="0"/>
              <a:t>Road Safety Decision Support Dashboard (RSS-DSS)</a:t>
            </a:r>
            <a:br>
              <a:rPr lang="en-US" dirty="0"/>
            </a:br>
            <a:r>
              <a:rPr lang="en-US" dirty="0"/>
              <a:t>Collision Data → Weighted Ordinal Logistic (interpretation) + Weighted LASSO (screening) → Predicted Severity Risk → Analyst Review → Targeted Intervention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Expected benefits and required resources</a:t>
            </a:r>
            <a:r>
              <a:rPr lang="en-US" dirty="0"/>
              <a:t> — Earlier identification of high-risk segments, evidence-based resource allocation and improved monitoring. Requires collision data, weather/traffic feeds, secure database, statistical model, dashboard and analyst involvement.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Implementation challenges and organizational impact</a:t>
            </a:r>
            <a:r>
              <a:rPr lang="en-US" dirty="0"/>
              <a:t> — Data privacy, data quality, false predictions and staff training must be managed. Supports analysts and emergency services without replacing human judgement.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Expert Validation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EF3520-9786-921F-67C3-8927BE113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47" y="1559598"/>
            <a:ext cx="4122639" cy="19749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9AB582-6E94-3A55-04C3-BAC619450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492" y="1508760"/>
            <a:ext cx="4589172" cy="2021502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45568CC-0491-624A-B768-2DC414DE8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860100"/>
              </p:ext>
            </p:extLst>
          </p:nvPr>
        </p:nvGraphicFramePr>
        <p:xfrm>
          <a:off x="209876" y="3651148"/>
          <a:ext cx="5954486" cy="2750186"/>
        </p:xfrm>
        <a:graphic>
          <a:graphicData uri="http://schemas.openxmlformats.org/drawingml/2006/table">
            <a:tbl>
              <a:tblPr/>
              <a:tblGrid>
                <a:gridCol w="2977243">
                  <a:extLst>
                    <a:ext uri="{9D8B030D-6E8A-4147-A177-3AD203B41FA5}">
                      <a16:colId xmlns:a16="http://schemas.microsoft.com/office/drawing/2014/main" val="3191854542"/>
                    </a:ext>
                  </a:extLst>
                </a:gridCol>
                <a:gridCol w="2977243">
                  <a:extLst>
                    <a:ext uri="{9D8B030D-6E8A-4147-A177-3AD203B41FA5}">
                      <a16:colId xmlns:a16="http://schemas.microsoft.com/office/drawing/2014/main" val="3687775013"/>
                    </a:ext>
                  </a:extLst>
                </a:gridCol>
              </a:tblGrid>
              <a:tr h="28676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125" b="0" dirty="0">
                          <a:effectLst/>
                          <a:latin typeface="quote-cjk-patch"/>
                        </a:rPr>
                        <a:t>Area</a:t>
                      </a:r>
                    </a:p>
                  </a:txBody>
                  <a:tcPr marR="762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125" b="0" dirty="0">
                          <a:effectLst/>
                          <a:latin typeface="quote-cjk-patch"/>
                        </a:rPr>
                        <a:t>Expert Comment</a:t>
                      </a:r>
                    </a:p>
                  </a:txBody>
                  <a:tcPr marL="76200" marR="762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949746"/>
                  </a:ext>
                </a:extLst>
              </a:tr>
              <a:tr h="505991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US" sz="1125" b="0" dirty="0">
                          <a:effectLst/>
                          <a:latin typeface="quote-cjk-patch"/>
                        </a:rPr>
                        <a:t>Relevance</a:t>
                      </a:r>
                    </a:p>
                  </a:txBody>
                  <a:tcPr marR="762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US" sz="1125" b="0">
                          <a:effectLst/>
                          <a:latin typeface="quote-cjk-patch"/>
                        </a:rPr>
                        <a:t>Class imbalance across Fatal/Serious/Slight is a real, material problem</a:t>
                      </a:r>
                    </a:p>
                  </a:txBody>
                  <a:tcPr marL="762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630762"/>
                  </a:ext>
                </a:extLst>
              </a:tr>
              <a:tr h="532805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US" sz="1125" b="0">
                          <a:effectLst/>
                          <a:latin typeface="quote-cjk-patch"/>
                        </a:rPr>
                        <a:t>Practicality</a:t>
                      </a:r>
                    </a:p>
                  </a:txBody>
                  <a:tcPr marR="762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US" sz="1125" b="0">
                          <a:effectLst/>
                          <a:latin typeface="quote-cjk-patch"/>
                        </a:rPr>
                        <a:t>LASSO should be imbalance-treated; test SMOTE and/or class weights</a:t>
                      </a:r>
                    </a:p>
                  </a:txBody>
                  <a:tcPr marL="762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57571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US" sz="1125" b="0">
                          <a:effectLst/>
                          <a:latin typeface="quote-cjk-patch"/>
                        </a:rPr>
                        <a:t>Feasibility</a:t>
                      </a:r>
                    </a:p>
                  </a:txBody>
                  <a:tcPr marR="762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US" sz="1125" b="0">
                          <a:effectLst/>
                          <a:latin typeface="quote-cjk-patch"/>
                        </a:rPr>
                        <a:t>Compare models using class-level sensitivity, Macro F1, and confusion matrix — not accuracy alone</a:t>
                      </a:r>
                    </a:p>
                  </a:txBody>
                  <a:tcPr marL="762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523396"/>
                  </a:ext>
                </a:extLst>
              </a:tr>
              <a:tr h="532805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US" sz="1125" b="0">
                          <a:effectLst/>
                          <a:latin typeface="quote-cjk-patch"/>
                        </a:rPr>
                        <a:t>Organizational Impact</a:t>
                      </a:r>
                    </a:p>
                  </a:txBody>
                  <a:tcPr marR="762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US" sz="1125" b="0" dirty="0">
                          <a:effectLst/>
                          <a:latin typeface="quote-cjk-patch"/>
                        </a:rPr>
                        <a:t>Model must correctly identify minority (Fatal) class, not just maximize overall accuracy</a:t>
                      </a:r>
                    </a:p>
                  </a:txBody>
                  <a:tcPr marL="762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150328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D13ED9E3-8F1F-268C-49AA-F6DE8BE70D1F}"/>
              </a:ext>
            </a:extLst>
          </p:cNvPr>
          <p:cNvSpPr txBox="1"/>
          <p:nvPr/>
        </p:nvSpPr>
        <p:spPr>
          <a:xfrm>
            <a:off x="6210301" y="3671562"/>
            <a:ext cx="57612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Expert Recommendation	                                         Our Action</a:t>
            </a:r>
          </a:p>
          <a:p>
            <a:endParaRPr lang="en-US" sz="1050" dirty="0"/>
          </a:p>
          <a:p>
            <a:r>
              <a:rPr lang="en-US" sz="1050" dirty="0"/>
              <a:t>Handle class imbalance explicitly	        Inverse-frequency class weights applied to all 4 models</a:t>
            </a:r>
          </a:p>
          <a:p>
            <a:endParaRPr lang="en-US" sz="1050" dirty="0"/>
          </a:p>
          <a:p>
            <a:r>
              <a:rPr lang="en-US" sz="1050" dirty="0"/>
              <a:t>Apply class weights to LASSO	                                           Verified — weights = </a:t>
            </a:r>
            <a:r>
              <a:rPr lang="en-US" sz="1050" dirty="0" err="1"/>
              <a:t>train_weights</a:t>
            </a:r>
            <a:r>
              <a:rPr lang="en-US" sz="1050" dirty="0"/>
              <a:t> passed to </a:t>
            </a:r>
            <a:r>
              <a:rPr lang="en-US" sz="1050" dirty="0" err="1"/>
              <a:t>cv.glmnet</a:t>
            </a:r>
            <a:endParaRPr lang="en-US" sz="1050" dirty="0"/>
          </a:p>
          <a:p>
            <a:endParaRPr lang="en-US" sz="1050" dirty="0"/>
          </a:p>
          <a:p>
            <a:r>
              <a:rPr lang="en-US" sz="1050" dirty="0"/>
              <a:t>Test SMOTE on training data	                                          Ran as sensitivity analysis → Serious-class</a:t>
            </a:r>
          </a:p>
          <a:p>
            <a:endParaRPr lang="en-US" sz="1050" dirty="0"/>
          </a:p>
          <a:p>
            <a:r>
              <a:rPr lang="en-US" sz="1050" dirty="0"/>
              <a:t>Use class-level metrics, not accuracy	        Adopted — Sensitivity, Macro F1, Kappa, Balanced Accuracy reported for all models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4A8CB10-F0DE-BCAA-E4E8-579747B8A49C}"/>
              </a:ext>
            </a:extLst>
          </p:cNvPr>
          <p:cNvCxnSpPr>
            <a:cxnSpLocks/>
          </p:cNvCxnSpPr>
          <p:nvPr/>
        </p:nvCxnSpPr>
        <p:spPr>
          <a:xfrm flipH="1">
            <a:off x="6095847" y="3671562"/>
            <a:ext cx="7773" cy="2647595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2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92840" y="64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IT3081 Statistical Modelling · Consultancy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8686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Consultancy Recommendations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2402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70432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0432" y="359359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70432" y="427024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0236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30C6CA-FF16-B064-BE44-89208BB0BEC2}"/>
              </a:ext>
            </a:extLst>
          </p:cNvPr>
          <p:cNvSpPr txBox="1"/>
          <p:nvPr/>
        </p:nvSpPr>
        <p:spPr>
          <a:xfrm>
            <a:off x="568842" y="1371816"/>
            <a:ext cx="11860619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Strategic:</a:t>
            </a:r>
            <a:br>
              <a:rPr lang="en-US" sz="1400" dirty="0"/>
            </a:br>
            <a:r>
              <a:rPr lang="en-US" sz="1400" dirty="0"/>
              <a:t>Establish a data-driven Road Accident Severity Prediction Framework using </a:t>
            </a:r>
            <a:r>
              <a:rPr lang="en-US" sz="1400" b="1" dirty="0"/>
              <a:t>Weighted Ordinal Logistic Regression</a:t>
            </a:r>
            <a:r>
              <a:rPr lang="en-US" sz="1400" dirty="0"/>
              <a:t> as the interpretable core model, supported by </a:t>
            </a:r>
            <a:r>
              <a:rPr lang="en-US" sz="1400" b="1" dirty="0"/>
              <a:t>Weighted LASSO</a:t>
            </a:r>
            <a:r>
              <a:rPr lang="en-US" sz="1400" dirty="0"/>
              <a:t> as a high-risk screening tool.</a:t>
            </a:r>
          </a:p>
          <a:p>
            <a:endParaRPr lang="en-US" sz="1400" dirty="0"/>
          </a:p>
          <a:p>
            <a:r>
              <a:rPr lang="en-US" sz="1400" b="1" dirty="0"/>
              <a:t>Operational:</a:t>
            </a:r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Monitor key indicators: speed limit, rural location, light conditions, number of vehicles, weekend status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Analyst-led review of high-risk segments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Retrain the production model with </a:t>
            </a:r>
            <a:r>
              <a:rPr lang="en-US" sz="1400" b="1" dirty="0"/>
              <a:t>class weights</a:t>
            </a:r>
            <a:r>
              <a:rPr lang="en-US" sz="1400" dirty="0"/>
              <a:t> — this raises Kappa from ≈ 0.008 to ≈ 0.085 and Fatal sensitivity from ≈ 0.00 to ≈ 0.67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Do not use SMOTE as the primary fix — the sensitivity test collapsed Serious-class sensitivity to 0.0014</a:t>
            </a:r>
          </a:p>
          <a:p>
            <a:pPr lvl="0"/>
            <a:endParaRPr lang="en-US" sz="1400" dirty="0"/>
          </a:p>
          <a:p>
            <a:r>
              <a:rPr lang="en-US" sz="1400" b="1" dirty="0"/>
              <a:t>Risk Management &amp; Ethics:</a:t>
            </a:r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Protect collision-data privacy (GDPR)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Maintain data quality and monitor for drift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Document the modest Kappa (≈ 0.08) transparently as the honest ceiling for a 3-class severity model on this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Use predictions as decision support, not automatic decisions</a:t>
            </a:r>
          </a:p>
          <a:p>
            <a:pPr lvl="0"/>
            <a:endParaRPr lang="en-US" sz="1400" dirty="0"/>
          </a:p>
          <a:p>
            <a:r>
              <a:rPr lang="en-US" sz="1400" b="1" dirty="0"/>
              <a:t>Future Research &amp; Next Steps:</a:t>
            </a:r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Validate the framework with road-safety experts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Collect multi-year longitudinal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Apply ARIMA/SARIMA forecasting to monthly severe-collision volumes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Evaluate interventions via stepped-wedge trials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Explore Bayesian methods where prior information and cost-sensitive decisions matter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1450</TotalTime>
  <Words>2143</Words>
  <Application>Microsoft Office PowerPoint</Application>
  <PresentationFormat>Widescreen</PresentationFormat>
  <Paragraphs>366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Consultancy Presentation Template</dc:title>
  <dc:subject>IT3081 Statistical Modelling Group Assignment Presentation Template</dc:subject>
  <dc:creator>OpenAI</dc:creator>
  <cp:lastModifiedBy>UVN LONETH</cp:lastModifiedBy>
  <cp:revision>10</cp:revision>
  <dcterms:created xsi:type="dcterms:W3CDTF">2026-09-18T08:28:20Z</dcterms:created>
  <dcterms:modified xsi:type="dcterms:W3CDTF">2026-10-05T08:05:56Z</dcterms:modified>
</cp:coreProperties>
</file>